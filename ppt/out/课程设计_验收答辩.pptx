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0.5 分钟。图：三层结构框图。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0.5 分钟。图：目录层次图。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0.3 分钟。姓名与分工待补充。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0.7 分钟。图：五级流水线结构框图。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0.7 分钟。图：指令类别条数柱状图。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0.9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0.6 分钟。图：前递优先级波形。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0.6 分钟。图：load-use 冻结波形。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0.6 分钟。图：分支冲刷波形。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0.3 分钟。图：五级流水线运行总览波形。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0.5 分钟。图：8N1 帧时序图。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0.5 分钟。图：发送与接收状态机。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0.6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0.7 分钟。图：地址空间映射图。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0.5 分钟。图：发送忙碌状态时序图。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0.7 分钟。图：SoC 装配结构图。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0.4 分钟。图：复位同步时序图。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0.3 分钟。图：板级引脚图。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0.6 分钟。图：console 流程图。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0.4 分钟。图：构建与烧录流程图。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0.9 分钟。图：三层验证结构图。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0.8 分钟。数据来源：pipeline/doc/perf_report.md 第 2.2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0.9 分钟。数据来源：pipeline/doc/perf_report.md 第 3、4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0.8 分钟。图：终端日志截图（待补充）。演示前确认串口与板卡连接。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时间：约 0.4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1105783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60604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2E8B8B"/>
                </a:solidFill>
                <a:latin typeface="Microsoft YaHei"/>
                <a:ea typeface="Microsoft YaHei"/>
                <a:cs typeface="Microsoft YaHei"/>
              </a:rPr>
              <a:t>计算机组成原理与接口课程设计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1546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组员：待补充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第一章 项目概述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项目构成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2197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本项目是一次课程设计，包含处理器、接口控制器与外设集成三部分。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处理器核心是 RV32I 五级流水线处理器，实现运算、传送与控制三类指令。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UART IP 是接口控制器，完成串行数据的发送与接收，帧格式为 8N1，波特率为 115200。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SoC 是处理器核心、UART IP 与复位电路的整机装配，作为整个项目的顶层。</a:t>
            </a:r>
          </a:p>
        </p:txBody>
      </p:sp>
      <p:pic>
        <p:nvPicPr>
          <p:cNvPr id="5" name="Picture 4" descr="diagram-three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438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外设采用统一编址，程序使用 lw 与 sw 指令访问，不增加专用的输入输出指令。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软件采用程序查询方式，通过轮询状态位完成发送与接收。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程序镜像在综合阶段固化于指令存储器，上电后从地址 0 开始执行。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主机通过 USB 转串口与 SoC 通信。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三级工程结构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1511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代码按三层组织，便于划分交付边界与复用关系。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处理器核心位于 pipeline/src，包含 RTL 源码、宏定义、测试平台与脚本。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UART IP 位于 UART/src，包含 IP 顶层、发送模块、接收模块与测试平台。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SoC 集成代码位于 soc，包含顶层装配、复位同步、数据侧译码、约束文件、固件与系统测试。</a:t>
            </a:r>
          </a:p>
        </p:txBody>
      </p:sp>
      <p:pic>
        <p:nvPicPr>
          <p:cNvPr id="5" name="Picture 4" descr="diagram-dir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359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组内分工如下表所示，每位成员负责的模块与交付物列在表中。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712976"/>
          <a:ext cx="11057837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7351"/>
                <a:gridCol w="4423135"/>
                <a:gridCol w="3317351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组员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负责内容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待补充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第二章 处理器核心设计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五级流水线结构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929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指令执行采用取指、译码、执行、访存、回写五个流水级。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相邻流水级之间由四组寄存器锁存中间结果，分别是 if_id、id_ex、ex_mem 与 mem_wb。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每组寄存器带有使能信号与冲刷信号，由冒险处理单元统一驱动。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指令存储器与数据存储器在物理上分离，取指与访存分别使用各自的端口，结构相关由此消除。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整机采用单一时钟，复位信号为异步高电平有效，复位后程序计数器为 0。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数据通路采用标准五级结构，本项目没有改动，下面重点说明本项目的控制与冒险处理方式。</a:t>
            </a:r>
          </a:p>
        </p:txBody>
      </p:sp>
      <p:pic>
        <p:nvPicPr>
          <p:cNvPr id="5" name="Picture 4" descr="diagram-pipeline-5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03028"/>
            <a:ext cx="11057839" cy="2350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指令集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处理器实现 26 条指令，属于 RV32I 子集，指令条数满足课程要求。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汇编伪指令 nop、j、ret、li、mv 由汇编器展开为上述指令，测试程序不使用表外指令。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指令覆盖测试程序对这 26 条指令逐条执行并检查结果。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660904"/>
          <a:ext cx="630935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582"/>
                <a:gridCol w="355958"/>
                <a:gridCol w="4947819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条数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运算类 R 型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add、sub、sll、slt、sltu、xor、srl、sra、or、and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运算类 I 型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addi、slli、slti、sltiu、xori、srli、srai、ori、andi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传送类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lui、lw、sw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控制类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beq、bne、jal、jalr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instr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401072"/>
            <a:ext cx="4474159" cy="28605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冒险处理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822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冒险分为数据相关、控制相关与结构相关三类，本项目分别采用前递、冻结与冲刷处理。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数据相关采用前递处理，把 EX/MEM 与 MEM/WB 两个流水段的结果送到执行级的输入端。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前递由两个选择信号控制，分别选择算术逻辑单元两个输入端的来源。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load-use 相关采用冻结处理。当加载指令之后紧接使用其结果的指令时，程序计数器与 IF/ID 寄存器保持一个周期不变，ID/EX 寄存器写入气泡。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冻结只发生一个周期，随后由 MEM/WB 前递提供数据。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控制相关采用冲刷处理。分支指令在执行级判决，跳转成立时冲刷 IF/ID 与 ID/EX 两个流水段中的指令。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结构相关由指令存储器与数据存储器的分离消除。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前递优先级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5943600" cy="1819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前递是把已经产生但尚未写回的结果直接送到执行级的输入端。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当 EX/MEM 与 MEM/WB 两个流水段同时命中同一个源寄存器时，选择 EX/MEM 的结果，因为该结果在时间上更接近当前指令。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寄存器堆采用写优先读的方式，消除同拍写入与读取的旧值问题。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波形中标注了 fwd_a_sel 与 fwd_b_sel 的取值，以及被前递的两级结果与算术逻辑单元输入的对齐关系。</a:t>
            </a:r>
          </a:p>
        </p:txBody>
      </p:sp>
      <p:pic>
        <p:nvPicPr>
          <p:cNvPr id="5" name="Picture 4" descr="前递优先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249161"/>
            <a:ext cx="4839919" cy="2686325"/>
          </a:xfrm>
          <a:prstGeom prst="rect">
            <a:avLst/>
          </a:prstGeom>
        </p:spPr>
      </p:pic>
      <p:pic>
        <p:nvPicPr>
          <p:cNvPr id="6" name="Picture 5" descr="wave-prio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" y="4023360"/>
            <a:ext cx="11055096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load-use 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5943600" cy="27294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load-use 相关是指加载指令的读出数据在访存级结束才可用，而紧随其后的指令在执行级就需要该数据。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该相关无法只靠前递消除，需要冻结一个周期。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处理方式是冻结一个周期，随后由 MEM/WB 前递提供数据。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波形中 stall 信号的高电平持续一个周期。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在该周期内，程序计数器与 IF/ID 寄存器保持不变，ID/EX 寄存器写入气泡。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冻结与冲刷不会同时发生，因为执行级的一条指令不能同时是加载指令与分支指令。</a:t>
            </a:r>
          </a:p>
        </p:txBody>
      </p:sp>
      <p:pic>
        <p:nvPicPr>
          <p:cNvPr id="5" name="Picture 4" descr="load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252196"/>
            <a:ext cx="4839919" cy="2680255"/>
          </a:xfrm>
          <a:prstGeom prst="rect">
            <a:avLst/>
          </a:prstGeom>
        </p:spPr>
      </p:pic>
      <p:pic>
        <p:nvPicPr>
          <p:cNvPr id="6" name="Picture 5" descr="wave-load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" y="4023360"/>
            <a:ext cx="11055096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分支处理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5943600" cy="2141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分支采用固定预测，默认预测为不跳转。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分支在执行级比较两个操作数，比较结果由前递或旁路提供。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跳转成立时，下一个周期将 IF/ID 寄存器置为 NOP 指令，将 ID/EX 寄存器的控制位清零，并把程序计数器置为分支目标地址。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每次跳转成立损失两个周期，不跳转时不产生气泡。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波形中展示了 br_taken 与 br_target 信号、程序计数器的跳变，以及被冲刷的两条指令。</a:t>
            </a:r>
          </a:p>
        </p:txBody>
      </p:sp>
      <p:pic>
        <p:nvPicPr>
          <p:cNvPr id="5" name="Picture 4" descr="分支预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252160"/>
            <a:ext cx="4839919" cy="2680327"/>
          </a:xfrm>
          <a:prstGeom prst="rect">
            <a:avLst/>
          </a:prstGeom>
        </p:spPr>
      </p:pic>
      <p:pic>
        <p:nvPicPr>
          <p:cNvPr id="6" name="Picture 5" descr="wave-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" y="4023360"/>
            <a:ext cx="11055096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五级运行总览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5943600" cy="9646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这张波形展示连续若干周期内，五条不同指令分别处于五个流水级。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取指与访存使用不同的存储器，两者不发生冲突。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波形可用于核对流水级的推进与段间寄存器的锁存关系。</a:t>
            </a:r>
          </a:p>
        </p:txBody>
      </p:sp>
      <p:pic>
        <p:nvPicPr>
          <p:cNvPr id="5" name="Picture 4" descr="五级流水线运行总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1246264"/>
            <a:ext cx="4839919" cy="2692119"/>
          </a:xfrm>
          <a:prstGeom prst="rect">
            <a:avLst/>
          </a:prstGeom>
        </p:spPr>
      </p:pic>
      <p:pic>
        <p:nvPicPr>
          <p:cNvPr id="6" name="Picture 5" descr="wav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" y="4023360"/>
            <a:ext cx="11055096" cy="23957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第三章 UART 接口 IP 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帧格式与波特率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60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UART 采用 8N1 帧格式，即一个低电平起始位、八个数据位、一个高电平停止位，不使用校验位。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数据位从最低位开始发送。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板载时钟频率为 100 MHz，目标波特率为 115200，每个比特对应约 868 个时钟周期。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分频取整误差约为 0.0064%，在接收端的容差范围内。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位节拍由 clk_en 分频脉冲产生，整机使用单一时钟，没有第二个时钟域。</a:t>
            </a:r>
          </a:p>
        </p:txBody>
      </p:sp>
      <p:pic>
        <p:nvPicPr>
          <p:cNvPr id="5" name="Picture 4" descr="uart-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349" y="3337560"/>
            <a:ext cx="11050996" cy="30815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收发模块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49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发送模块采用 8N1 发送状态机，依次输出起始位、八个数据位与停止位。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发送完成后输出一个 done 脉冲，发送忙碌时忽略新的发送请求。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接收模块检测起始位的下降沿，随后在每个比特的中心位置采样，逐位组装数据。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停止位为高电平时输出有效字节，为低电平时丢弃该帧。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输入信号先经过两级寄存器同步，以消除亚稳态。</a:t>
            </a:r>
          </a:p>
        </p:txBody>
      </p:sp>
      <p:pic>
        <p:nvPicPr>
          <p:cNvPr id="5" name="Picture 4" descr="diagram-uart-tx-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338474"/>
            <a:ext cx="5391759" cy="3079699"/>
          </a:xfrm>
          <a:prstGeom prst="rect">
            <a:avLst/>
          </a:prstGeom>
        </p:spPr>
      </p:pic>
      <p:pic>
        <p:nvPicPr>
          <p:cNvPr id="6" name="Picture 5" descr="diagram-uart-rx-f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338474"/>
            <a:ext cx="5391759" cy="30796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UART IP 顶层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438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uart_ip_top 是 UART IP 的顶层模块，内部包含寄存器层，并实例化发送模块与接收模块。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该模块对外只提供一条从机总线与两条串行引脚，不依赖宿主处理器，可以独立复用。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寄存器映射为三个 32 位字槽，分别对应发送、状态与接收。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读操作在访存级内完成，写操作在访存级末沿锁存，与数据存储器访问同一拍。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791968"/>
          <a:ext cx="1105783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150"/>
                <a:gridCol w="1026466"/>
                <a:gridCol w="2332877"/>
                <a:gridCol w="6765344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偏移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槽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读出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待发送字节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无操作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bit0 发送忙碌，bit1 接收有效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0x8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RX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无操作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接收字节并清除接收有效标志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统一编址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3186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统一编址是把外设寄存器与数据存储器放在同一个地址空间中。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本设计使用 lw 指令读取外设，使用 sw 指令写入外设，不增加新的指令。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读写方向由指令本身区分，低区地址命中数据存储器，MMIO 窗口命中外设。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UART 窗口的基地址为 0x4000，TX 位于偏移 0，STAT 位于偏移 4，RX 位于偏移 8。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地址译码分为两级。dbus_decode 在访存级选择数据存储器或 MMIO 窗口，UART IP 内部根据地址低位选择字槽。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外设访问与数据存储器访问在同一拍完成，不插入等待周期。</a:t>
            </a:r>
          </a:p>
        </p:txBody>
      </p:sp>
      <p:pic>
        <p:nvPicPr>
          <p:cNvPr id="5" name="Picture 4" descr="diagram-addr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发送忙碌状态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6078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STAT 寄存器的第 0 位表示发送忙碌。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发送忙碌包含两种状态：已接受但尚未开始移位，以及正在移位。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写操作仅在发送空闲时被接受，即无待发字节且未在移位。挂起与移位期间写入的数据被丢弃。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该定义使软件在 busy 为 0 时写入数据不会覆盖尚未发送的字节。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软件在发送前轮询该状态位，可以连续发送多个字节而不丢字。</a:t>
            </a:r>
          </a:p>
        </p:txBody>
      </p:sp>
      <p:pic>
        <p:nvPicPr>
          <p:cNvPr id="5" name="Picture 4" descr="diagram-txbusy-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03028"/>
            <a:ext cx="11057839" cy="2350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第四章 SoC 集成设计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SoC 装配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900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soc_top 是整机顶层，实例化三个模块：pipeline_top、uart_ip_top 与 reset_sync。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数据侧译码模块 dbus_decode 位于处理器的访存级，根据访存地址选择数据存储器或 UART。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处理器通过 mmio 总线端口连接外设，端口包括片选、槽偏移、写使能与写数据。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soc_top 内部把 reg_off 信号适配为 UART IP 的地址。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访存在一个周期内完成，外设访问不插入等待周期。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整机为单时钟域，处理器与外设使用同一时钟。</a:t>
            </a:r>
          </a:p>
        </p:txBody>
      </p:sp>
      <p:pic>
        <p:nvPicPr>
          <p:cNvPr id="5" name="Picture 4" descr="diagram-soc-assemb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复位同步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15933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reset_sync 对板载复位按键做异步置位、同步释放处理，输出处理器使用的异步高电平有效复位信号。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复位后程序从头重新运行，指令存储器内容不变，数据存储器由固件在启动时初始化。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接收引脚在 UART IP 内部经过两级同步，以消除亚稳态。</a:t>
            </a:r>
          </a:p>
        </p:txBody>
      </p:sp>
      <p:pic>
        <p:nvPicPr>
          <p:cNvPr id="5" name="Picture 4" descr="diagram-reset-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引脚分配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10218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整机使用单一时钟，频率为 100 MHz。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引脚分配为：时钟 T5，uart_tx T4，uart_rx N5，rst_n P15。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UART 经板载 CP2102 与主机串口通信。</a:t>
            </a:r>
          </a:p>
        </p:txBody>
      </p:sp>
      <p:pic>
        <p:nvPicPr>
          <p:cNvPr id="5" name="Picture 4" descr="diagram-pi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固件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569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console 固件是 CPU 与 UART 的集成应用。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1. 固件在启动时初始化数据区，随后逐字符轮询 TX_BUSY 状态并发送 banner 字符串。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2. 发送完成后进入回显循环，轮询 RX_VALID 状态，读取到字节后回发。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固件使用的指令均属于 26 条指令子集。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字符串按字存入数据区，发送时拆出最低字节。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数据存储器不复位，固件在启动时初始化数据区，保证复位后重新运行的结果一致。</a:t>
            </a:r>
          </a:p>
        </p:txBody>
      </p:sp>
      <p:pic>
        <p:nvPicPr>
          <p:cNvPr id="5" name="Picture 4" descr="diagram-consol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程序固化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2176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1. 程序通过 .vh 文件在综合阶段写入指令存储器的初值。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2. 上电后处理器从地址 0 开始执行，不需要装载动作。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3. 更换程序需要重新生成 .vh 文件、重新综合、重新烧录。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数据存储器不复位，固件在启动时初始化数据区，保证复位后重新运行的结果一致。</a:t>
            </a:r>
          </a:p>
        </p:txBody>
      </p:sp>
      <p:pic>
        <p:nvPicPr>
          <p:cNvPr id="5" name="Picture 4" descr="diagram-build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03028"/>
            <a:ext cx="11057839" cy="2350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第五章 验证与性能分析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验证层次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9009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测试分为处理器功能测试、外设测试与系统测试三类。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处理器功能测试包含模块级测试与程序级测试。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模块级测试逐个检查 RTL 模块的端口时序与功能。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程序级测试运行汇编程序，其中指令覆盖程序覆盖 26 条指令，其他程序覆盖数据相关、load-use 相关与分支跳转。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外设测试对 UART IP 检查帧格式、状态位、发送忙碌时写丢弃、读取时清除有效标志与全双工并发。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系统测试使用行为级串口模型驱动整机运行固件，检查 banner 字节序列、回显往返与复位后重新运行。</a:t>
            </a:r>
          </a:p>
        </p:txBody>
      </p:sp>
      <p:pic>
        <p:nvPicPr>
          <p:cNvPr id="5" name="Picture 4" descr="diagram-verify-3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1979" y="1335024"/>
            <a:ext cx="4471416" cy="4992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验证机制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测试平台在仿真结束时自动比对期望值与实际值，并输出通过或失败。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指令覆盖程序对 26 条指令逐条执行并检查结果。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三类测试均已通过。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性能指标与测量口径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7538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本设计以 CPI 为主指标，以 IPC 作为对照，MIPS 与 CPU 时间用于频率维度的分析。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CPI 是每条指令占用的平均周期数，与时钟频率无关。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IPC 是每个周期完成的指令数，与结构加速比同值。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MIPS 与 CPU 时间依赖时钟频率，用于回答提高频率能否补偿流水线停顿。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测量保留三个时间窗口。C_total 是复位释放到停机的周期数，C_steady 是剔除停机与冲刷尾部开销后的周期数，C_fixed 是固定开销，结构对比使用 C_steady。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每档数据满足恒等式 C_total 等于 IC 加 F 减 1 加 L 加 2T。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其中 F 是首个真实 EX 槽的沿号，本次测量为 1。L 是 load-use 冻结周期数，T 是跳转成立次数。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性能实测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1706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这张表是 8 个程序的实测结果。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test0、test1 与 sort 用于与单周期对比。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cover 与 hazard 用于指令构成与停顿构成分析。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规模程序 loop8、loop32、loop128 用于观察 CPI 随规模的收敛。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各档数据均满足恒等式，恒等式用于校验测量口径。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3060191"/>
          <a:ext cx="1105783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8555"/>
                <a:gridCol w="850603"/>
                <a:gridCol w="1488555"/>
                <a:gridCol w="1701206"/>
                <a:gridCol w="637952"/>
                <a:gridCol w="637952"/>
                <a:gridCol w="2126507"/>
                <a:gridCol w="2126507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C_total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C_steady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CPI_steady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IPC_steady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1.167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sort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247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1.386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0.721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cover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1.250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hazard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1.267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0.789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1.349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0.741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loop32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327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455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1.387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0.721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loop128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1799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1796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与单周期处理器的对比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11057839" cy="25176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单周期参考工程在一个时钟周期内完成一条指令，CPI 恒为 1。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流水线在相同源程序上的结构加速比小于 1，因为流水线存在冻结与冲刷开销。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资源与时序综合在同器件、同约束条件下进行，两者的存储器均未映射为 Block RAM。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单周期关键路径落在指令存储器的组合读译码上。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频率加速比约为 1.0132。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 test1 与 sort 程序上，时间加速比小于 1，说明在该综合条件下频率收益未能覆盖流水线停顿带来的开销。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改进方向包括减少分支冲刷、改进 load-use 前递、把存储器改为可推断的 Block RAM。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3870959"/>
          <a:ext cx="11057837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73"/>
                <a:gridCol w="1581951"/>
                <a:gridCol w="1645229"/>
                <a:gridCol w="2515302"/>
                <a:gridCol w="2863331"/>
                <a:gridCol w="1581951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单周期拍数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单周期 CPI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 C_steady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 CPI_steady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结构加速比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test1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1.167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0.857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sort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178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1.386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0.721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5224271"/>
          <a:ext cx="11057836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460"/>
                <a:gridCol w="3066459"/>
                <a:gridCol w="1703588"/>
                <a:gridCol w="1362870"/>
                <a:gridCol w="3066459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Slice LUT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BRAM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Fmax(MHz)</a:t>
                      </a:r>
                    </a:p>
                  </a:txBody>
                  <a:tcPr marL="54864" marR="54864" marT="9144" marB="9144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单周期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141854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33768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77.22</a:t>
                      </a:r>
                    </a:p>
                  </a:txBody>
                  <a:tcPr marL="54864" marR="54864" marT="9144" marB="9144" anchor="ctr">
                    <a:solidFill>
                      <a:srgbClr val="F4F7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142009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34159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78.24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第六章 下板与现场演示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7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下板与现场演示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97280"/>
            <a:ext cx="1005840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6309360" cy="29420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在 EES-338 开发板上完成综合、实现、生成比特流与 JTAG 烧录。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实测器件为 xc7a100tcsg324-1，下板版本将存储容量缩小为 IMEM 512 字节、DMEM 256 字节。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演示的对象是 CPU 与 UART 集成的整机。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串口终端设置为 115200-8-N-1，选择 CP210x 对应的串口。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演示步骤如下。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1. 上电观察 banner。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2. 键盘输入观察回显。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3. 按 P15 复位键观察程序重新运行。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50608" y="1335024"/>
            <a:ext cx="4474159" cy="4992624"/>
          </a:xfrm>
          <a:prstGeom prst="roundRect">
            <a:avLst>
              <a:gd name="adj" fmla="val 1430"/>
            </a:avLst>
          </a:prstGeom>
          <a:solidFill>
            <a:srgbClr val="F4F7FA"/>
          </a:solidFill>
          <a:ln w="12700">
            <a:solidFill>
              <a:srgbClr val="B06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B06000"/>
                </a:solidFill>
                <a:latin typeface="Microsoft YaHei"/>
                <a:ea typeface="Microsoft YaHei"/>
                <a:cs typeface="Microsoft YaHei"/>
              </a:rPr>
              <a:t>图片待补充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B06000"/>
                </a:solidFill>
                <a:latin typeface="Microsoft YaHei"/>
                <a:ea typeface="Microsoft YaHei"/>
                <a:cs typeface="Microsoft YaHei"/>
              </a:rPr>
              <a:t>ppt/assets/下板终端日志.png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RV32I 五级流水线处理器与全双工 UART 接口的 SoC 设计与实现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5A6672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46888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4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第七章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520440"/>
            <a:ext cx="1828800" cy="640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91440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000" b="1">
                <a:solidFill>
                  <a:srgbClr val="1F3A5F"/>
                </a:solidFill>
                <a:latin typeface="Microsoft YaHei"/>
                <a:ea typeface="Microsoft YaHei"/>
                <a:cs typeface="Microsoft YaHei"/>
              </a:rPr>
              <a:t>设计要点与致谢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1057839" cy="25366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设计要点包括以下几项。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整机使用单一时钟，位节拍由分频脉冲产生。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外设采用统一编址，使用现有访存指令访问。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存储容量参数化，仿真与下板使用不同容量。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程序固化于指令存储器。</a:t>
            </a: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UART IP 不依赖宿主处理器，可以独立复用。</a:t>
            </a:r>
          </a:p>
          <a:p>
            <a:pPr>
              <a:lnSpc>
                <a:spcPct val="130000"/>
              </a:lnSpc>
              <a:spcAft>
                <a:spcPts val="500"/>
              </a:spcAft>
            </a:pPr>
            <a:r>
              <a:rPr sz="17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汇报完毕，谢谢各位老师。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